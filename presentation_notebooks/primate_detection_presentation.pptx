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(0:10) Hi, I'm [name]. Today I'm going to show you how we used deep learning to automatically detect primate vocalizations in multi-hour field recordings from Makokou, Gabon.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 Bioacoustic monitoring — leaving microphones in the forest — is one of the most powerful tools we have for non-invasive wildlife monitoring. The problem is scale: a week of continuous recording produces hundreds of hours of audio, and a human analyst can listen to maybe one or two hours a day. Our goal is to automate the task: given a long field recording, find every time one of three forest primates — Cercopithecus nictitans, Colobus guereza, and Pan troglodytes — vocalizes, and classify which species it is.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Our training set comes from pre-extracted 5-second clips of each species plus a background class that contains forest ambient noise and non-target primate species. Around 870 species clips and 1,800 background clips in total. On the right you can see one mel-spectrogram per species — this is what the model actually sees.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The core idea is simple: treat audio classification as image classification. We take a 5-second sliding window, convert it to a mel-spectrogram, resize to 224x224, and feed it to a VGG19 network pre-trained on ImageNet. The low-level features VGG19 learned on natural images — edges, textures — are exactly what distinguishes spectrograms of different calls. We freeze the backbone and train only a small custom head. Augmentation (background mixing at varying SNR, time / frequency cropping) pushes the 870 clips to ~6,000 effective training samples.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On a held-out validation set the model reaches 94.3% accuracy across the four classes. The confusion matrix tells a more nuanced story — look at the diagonal: Cercopithecus and Colobus recall is above 90%. The hardest class is the background class, where some samples get mis-labelled as Cercopithecus — which makes sense because many background clips contain distantly calling monkeys.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 Validation accuracy on clean clips is not what matters — what matters is whether it works on real multi-hour field audio. We ran the model on 13 recordings from Makokou on June 9 2022, morning to night. Practical surprise: the default confidence threshold of 0.7 was way too strict. A threshold sweep showed the confidence distribution is bimodal — the model is either very sure or it assigns the window to background — so we settled on 0.4, below which the detection count saturates. That gave us 44 detections across the 13 files. Parsing the timestamp out of each filename lets us plot detections by hour of day, which recovers meaningful diurnal activity patterns. (Play a detected clip if the room has audio.)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(0:20) Three takeaways: VGG19 transfer learning works well for primate vocal classification (94% on clean clips); deployed end-to-end on real 2022 field recordings it recovers meaningful diurnal activity patterns; and the whole pipeline is released as a reusable Python package — any researcher with their own primate recordings can run it by editing one config file. Main open challenge: Pan troglodytes recall. Next steps: more field data, per-call-type classification, temporal context. Thank you —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only if asked) The whole pipeline lives in src/ as 8 Python modules — one per pipeline stage. config.py is the entry point: all paths, hyper-parameters, and the list of species folders live there. To run this on a new dataset the only file you edit is config.py — everything else is dataset-agnostic. Don't read the table row by row; let the audience read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194560"/>
            <a:ext cx="10698480" cy="1463040"/>
          </a:xfrm>
          <a:prstGeom prst="rect">
            <a:avLst/>
          </a:prstGeom>
          <a:noFill/>
        </p:spPr>
        <p:txBody>
          <a:bodyPr wrap="square" anchor="t">
            <a:spAutoFit/>
          </a:bodyPr>
          <a:lstStyle/>
          <a:p>
            <a:pPr algn="ctr"/>
            <a:r>
              <a:rPr sz="4400" b="1">
                <a:solidFill>
                  <a:srgbClr val="2C3E50"/>
                </a:solidFill>
              </a:rPr>
              <a:t>Detecting primate vocalizations
in long field recordings</a:t>
            </a:r>
          </a:p>
        </p:txBody>
      </p:sp>
      <p:sp>
        <p:nvSpPr>
          <p:cNvPr id="3" name="TextBox 2"/>
          <p:cNvSpPr txBox="1"/>
          <p:nvPr/>
        </p:nvSpPr>
        <p:spPr>
          <a:xfrm>
            <a:off x="731520" y="3840480"/>
            <a:ext cx="10698480" cy="822960"/>
          </a:xfrm>
          <a:prstGeom prst="rect">
            <a:avLst/>
          </a:prstGeom>
          <a:noFill/>
        </p:spPr>
        <p:txBody>
          <a:bodyPr wrap="square" anchor="t">
            <a:spAutoFit/>
          </a:bodyPr>
          <a:lstStyle/>
          <a:p>
            <a:pPr algn="ctr"/>
            <a:r>
              <a:rPr sz="2400" b="0">
                <a:solidFill>
                  <a:srgbClr val="2980B9"/>
                </a:solidFill>
              </a:rPr>
              <a:t>VGG19 transfer learning on mel-spectrograms</a:t>
            </a:r>
          </a:p>
        </p:txBody>
      </p:sp>
      <p:sp>
        <p:nvSpPr>
          <p:cNvPr id="4" name="TextBox 3"/>
          <p:cNvSpPr txBox="1"/>
          <p:nvPr/>
        </p:nvSpPr>
        <p:spPr>
          <a:xfrm>
            <a:off x="731520" y="4937760"/>
            <a:ext cx="10698480" cy="548640"/>
          </a:xfrm>
          <a:prstGeom prst="rect">
            <a:avLst/>
          </a:prstGeom>
          <a:noFill/>
        </p:spPr>
        <p:txBody>
          <a:bodyPr wrap="square" anchor="t">
            <a:spAutoFit/>
          </a:bodyPr>
          <a:lstStyle/>
          <a:p>
            <a:pPr algn="ctr"/>
            <a:r>
              <a:rPr sz="1800" b="0">
                <a:solidFill>
                  <a:srgbClr val="7F8C8D"/>
                </a:solidFill>
              </a:rPr>
              <a:t>[Your name]   ·   [Your affiliation]   ·   [Date]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822960"/>
          </a:xfrm>
          <a:prstGeom prst="rect">
            <a:avLst/>
          </a:prstGeom>
          <a:noFill/>
        </p:spPr>
        <p:txBody>
          <a:bodyPr wrap="square" anchor="t">
            <a:spAutoFit/>
          </a:bodyPr>
          <a:lstStyle/>
          <a:p>
            <a:pPr algn="l"/>
            <a:r>
              <a:rPr sz="3200" b="1">
                <a:solidFill>
                  <a:srgbClr val="2C3E50"/>
                </a:solidFill>
              </a:rPr>
              <a:t>The problem</a:t>
            </a:r>
          </a:p>
        </p:txBody>
      </p:sp>
      <p:sp>
        <p:nvSpPr>
          <p:cNvPr id="3" name="TextBox 2"/>
          <p:cNvSpPr txBox="1"/>
          <p:nvPr/>
        </p:nvSpPr>
        <p:spPr>
          <a:xfrm>
            <a:off x="822960" y="1645920"/>
            <a:ext cx="10515600" cy="4572000"/>
          </a:xfrm>
          <a:prstGeom prst="rect">
            <a:avLst/>
          </a:prstGeom>
          <a:noFill/>
        </p:spPr>
        <p:txBody>
          <a:bodyPr wrap="square">
            <a:spAutoFit/>
          </a:bodyPr>
          <a:lstStyle/>
          <a:p>
            <a:pPr algn="l">
              <a:spcAft>
                <a:spcPts val="800"/>
              </a:spcAft>
            </a:pPr>
            <a:r>
              <a:rPr sz="2000">
                <a:solidFill>
                  <a:srgbClr val="34495E"/>
                </a:solidFill>
              </a:rPr>
              <a:t>•  Bioacoustic monitoring: leave microphones in the forest, non-invasive wildlife monitoring, runs 24 / 7 for weeks.</a:t>
            </a:r>
          </a:p>
          <a:p>
            <a:pPr algn="l">
              <a:spcAft>
                <a:spcPts val="800"/>
              </a:spcAft>
            </a:pPr>
            <a:r>
              <a:rPr sz="2000">
                <a:solidFill>
                  <a:srgbClr val="34495E"/>
                </a:solidFill>
              </a:rPr>
              <a:t>•  The bottleneck is analysis — a week of continuous recording can produce hundreds of hours of audio, far more than a human can listen to.</a:t>
            </a:r>
          </a:p>
          <a:p>
            <a:pPr algn="l">
              <a:spcAft>
                <a:spcPts val="800"/>
              </a:spcAft>
            </a:pPr>
            <a:r>
              <a:rPr sz="2000">
                <a:solidFill>
                  <a:srgbClr val="34495E"/>
                </a:solidFill>
              </a:rPr>
              <a:t>•  Goal: automatically find and classify vocalizations of three forest primates — Cercopithecus nictitans, Colobus guereza, and Pan troglodytes — in multi-hour Makokou recordings.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822960"/>
          </a:xfrm>
          <a:prstGeom prst="rect">
            <a:avLst/>
          </a:prstGeom>
          <a:noFill/>
        </p:spPr>
        <p:txBody>
          <a:bodyPr wrap="square" anchor="t">
            <a:spAutoFit/>
          </a:bodyPr>
          <a:lstStyle/>
          <a:p>
            <a:pPr algn="l"/>
            <a:r>
              <a:rPr sz="3200" b="1">
                <a:solidFill>
                  <a:srgbClr val="2C3E50"/>
                </a:solidFill>
              </a:rPr>
              <a:t>Training data: 3 species + background</a:t>
            </a:r>
          </a:p>
        </p:txBody>
      </p:sp>
      <p:sp>
        <p:nvSpPr>
          <p:cNvPr id="3" name="Rectangle 2"/>
          <p:cNvSpPr/>
          <p:nvPr/>
        </p:nvSpPr>
        <p:spPr>
          <a:xfrm>
            <a:off x="457200" y="1371600"/>
            <a:ext cx="5760720" cy="5120640"/>
          </a:xfrm>
          <a:prstGeom prst="rect">
            <a:avLst/>
          </a:prstGeom>
          <a:noFill/>
          <a:ln w="19050">
            <a:solidFill>
              <a:srgbClr val="BDC3C7"/>
            </a:solidFill>
            <a:prstDash val="lgDash"/>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i="1">
                <a:solidFill>
                  <a:srgbClr val="7F8C8D"/>
                </a:solidFill>
              </a:rPr>
              <a:t>[ drop in: 01_clips_per_class.png ]</a:t>
            </a:r>
          </a:p>
        </p:txBody>
      </p:sp>
      <p:sp>
        <p:nvSpPr>
          <p:cNvPr id="4" name="Rectangle 3"/>
          <p:cNvSpPr/>
          <p:nvPr/>
        </p:nvSpPr>
        <p:spPr>
          <a:xfrm>
            <a:off x="6400800" y="1371600"/>
            <a:ext cx="5303520" cy="5120640"/>
          </a:xfrm>
          <a:prstGeom prst="rect">
            <a:avLst/>
          </a:prstGeom>
          <a:noFill/>
          <a:ln w="19050">
            <a:solidFill>
              <a:srgbClr val="BDC3C7"/>
            </a:solidFill>
            <a:prstDash val="lgDash"/>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i="1">
                <a:solidFill>
                  <a:srgbClr val="7F8C8D"/>
                </a:solidFill>
              </a:rPr>
              <a:t>[ drop in: 03_example_spectrograms.png ]
(one mel-spectrogram per species)</a:t>
            </a:r>
          </a:p>
        </p:txBody>
      </p:sp>
      <p:sp>
        <p:nvSpPr>
          <p:cNvPr id="5" name="TextBox 4"/>
          <p:cNvSpPr txBox="1"/>
          <p:nvPr/>
        </p:nvSpPr>
        <p:spPr>
          <a:xfrm>
            <a:off x="548640" y="6400800"/>
            <a:ext cx="10972800" cy="365760"/>
          </a:xfrm>
          <a:prstGeom prst="rect">
            <a:avLst/>
          </a:prstGeom>
          <a:noFill/>
        </p:spPr>
        <p:txBody>
          <a:bodyPr wrap="square" anchor="t">
            <a:spAutoFit/>
          </a:bodyPr>
          <a:lstStyle/>
          <a:p>
            <a:pPr algn="ctr"/>
            <a:r>
              <a:rPr sz="1400" b="0">
                <a:solidFill>
                  <a:srgbClr val="7F8C8D"/>
                </a:solidFill>
              </a:rPr>
              <a:t>~870 species clips (augmented ×7)  +  ~1800 background clips  =  ~6000 effective training samples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822960"/>
          </a:xfrm>
          <a:prstGeom prst="rect">
            <a:avLst/>
          </a:prstGeom>
          <a:noFill/>
        </p:spPr>
        <p:txBody>
          <a:bodyPr wrap="square" anchor="t">
            <a:spAutoFit/>
          </a:bodyPr>
          <a:lstStyle/>
          <a:p>
            <a:pPr algn="l"/>
            <a:r>
              <a:rPr sz="3200" b="1">
                <a:solidFill>
                  <a:srgbClr val="2C3E50"/>
                </a:solidFill>
              </a:rPr>
              <a:t>Audio-as-image classification via transfer learning</a:t>
            </a:r>
          </a:p>
        </p:txBody>
      </p:sp>
      <p:pic>
        <p:nvPicPr>
          <p:cNvPr id="3" name="Picture 2" descr="pipeline_architecture.png"/>
          <p:cNvPicPr>
            <a:picLocks noChangeAspect="1"/>
          </p:cNvPicPr>
          <p:nvPr/>
        </p:nvPicPr>
        <p:blipFill>
          <a:blip r:embed="rId2"/>
          <a:stretch>
            <a:fillRect/>
          </a:stretch>
        </p:blipFill>
        <p:spPr>
          <a:xfrm>
            <a:off x="457200" y="1634389"/>
            <a:ext cx="11247120" cy="3314902"/>
          </a:xfrm>
          <a:prstGeom prst="rect">
            <a:avLst/>
          </a:prstGeom>
        </p:spPr>
      </p:pic>
      <p:sp>
        <p:nvSpPr>
          <p:cNvPr id="4" name="TextBox 3"/>
          <p:cNvSpPr txBox="1"/>
          <p:nvPr/>
        </p:nvSpPr>
        <p:spPr>
          <a:xfrm>
            <a:off x="822960" y="5303520"/>
            <a:ext cx="10515600" cy="1463040"/>
          </a:xfrm>
          <a:prstGeom prst="rect">
            <a:avLst/>
          </a:prstGeom>
          <a:noFill/>
        </p:spPr>
        <p:txBody>
          <a:bodyPr wrap="square">
            <a:spAutoFit/>
          </a:bodyPr>
          <a:lstStyle/>
          <a:p>
            <a:pPr algn="l">
              <a:spcAft>
                <a:spcPts val="800"/>
              </a:spcAft>
            </a:pPr>
            <a:r>
              <a:rPr sz="1500">
                <a:solidFill>
                  <a:srgbClr val="34495E"/>
                </a:solidFill>
              </a:rPr>
              <a:t>•  5 s sliding window → 128-bin mel-spectrogram → 224×224 RGB</a:t>
            </a:r>
          </a:p>
          <a:p>
            <a:pPr algn="l">
              <a:spcAft>
                <a:spcPts val="800"/>
              </a:spcAft>
            </a:pPr>
            <a:r>
              <a:rPr sz="1500">
                <a:solidFill>
                  <a:srgbClr val="34495E"/>
                </a:solidFill>
              </a:rPr>
              <a:t>•  VGG19 ImageNet backbone (frozen) + custom classifier head</a:t>
            </a:r>
          </a:p>
          <a:p>
            <a:pPr algn="l">
              <a:spcAft>
                <a:spcPts val="800"/>
              </a:spcAft>
            </a:pPr>
            <a:r>
              <a:rPr sz="1500">
                <a:solidFill>
                  <a:srgbClr val="34495E"/>
                </a:solidFill>
              </a:rPr>
              <a:t>•  Augmentation: background mixing (SNR -5..10 dB), time/freq crop, freq translation — ×7 effective training-set multiplier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822960"/>
          </a:xfrm>
          <a:prstGeom prst="rect">
            <a:avLst/>
          </a:prstGeom>
          <a:noFill/>
        </p:spPr>
        <p:txBody>
          <a:bodyPr wrap="square" anchor="t">
            <a:spAutoFit/>
          </a:bodyPr>
          <a:lstStyle/>
          <a:p>
            <a:pPr algn="l"/>
            <a:r>
              <a:rPr sz="3200" b="1">
                <a:solidFill>
                  <a:srgbClr val="2C3E50"/>
                </a:solidFill>
              </a:rPr>
              <a:t>94.3% validation accuracy</a:t>
            </a:r>
          </a:p>
        </p:txBody>
      </p:sp>
      <p:sp>
        <p:nvSpPr>
          <p:cNvPr id="3" name="Rectangle 2"/>
          <p:cNvSpPr/>
          <p:nvPr/>
        </p:nvSpPr>
        <p:spPr>
          <a:xfrm>
            <a:off x="731520" y="1371600"/>
            <a:ext cx="10698480" cy="4754880"/>
          </a:xfrm>
          <a:prstGeom prst="rect">
            <a:avLst/>
          </a:prstGeom>
          <a:noFill/>
          <a:ln w="19050">
            <a:solidFill>
              <a:srgbClr val="BDC3C7"/>
            </a:solidFill>
            <a:prstDash val="lgDash"/>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i="1">
                <a:solidFill>
                  <a:srgbClr val="7F8C8D"/>
                </a:solidFill>
              </a:rPr>
              <a:t>[ drop in: 02_confusion_matrix.png ]</a:t>
            </a:r>
          </a:p>
        </p:txBody>
      </p:sp>
      <p:sp>
        <p:nvSpPr>
          <p:cNvPr id="4" name="TextBox 3"/>
          <p:cNvSpPr txBox="1"/>
          <p:nvPr/>
        </p:nvSpPr>
        <p:spPr>
          <a:xfrm>
            <a:off x="548640" y="6263640"/>
            <a:ext cx="10972800" cy="457200"/>
          </a:xfrm>
          <a:prstGeom prst="rect">
            <a:avLst/>
          </a:prstGeom>
          <a:noFill/>
        </p:spPr>
        <p:txBody>
          <a:bodyPr wrap="square" anchor="t">
            <a:spAutoFit/>
          </a:bodyPr>
          <a:lstStyle/>
          <a:p>
            <a:pPr algn="ctr"/>
            <a:r>
              <a:rPr sz="1400" b="0">
                <a:solidFill>
                  <a:srgbClr val="7F8C8D"/>
                </a:solidFill>
              </a:rPr>
              <a:t>Per-class F1 &gt; 0.9 for all three species; hardest class is background ↔ Cercopithecus (distant calls).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822960"/>
          </a:xfrm>
          <a:prstGeom prst="rect">
            <a:avLst/>
          </a:prstGeom>
          <a:noFill/>
        </p:spPr>
        <p:txBody>
          <a:bodyPr wrap="square" anchor="t">
            <a:spAutoFit/>
          </a:bodyPr>
          <a:lstStyle/>
          <a:p>
            <a:pPr algn="l"/>
            <a:r>
              <a:rPr sz="3200" b="1">
                <a:solidFill>
                  <a:srgbClr val="2C3E50"/>
                </a:solidFill>
              </a:rPr>
              <a:t>Deployed on 13 real recordings from Makokou</a:t>
            </a:r>
          </a:p>
        </p:txBody>
      </p:sp>
      <p:sp>
        <p:nvSpPr>
          <p:cNvPr id="3" name="Rectangle 2"/>
          <p:cNvSpPr/>
          <p:nvPr/>
        </p:nvSpPr>
        <p:spPr>
          <a:xfrm>
            <a:off x="731520" y="1371600"/>
            <a:ext cx="7498079" cy="5029200"/>
          </a:xfrm>
          <a:prstGeom prst="rect">
            <a:avLst/>
          </a:prstGeom>
          <a:noFill/>
          <a:ln w="19050">
            <a:solidFill>
              <a:srgbClr val="BDC3C7"/>
            </a:solidFill>
            <a:prstDash val="lgDash"/>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i="1">
                <a:solidFill>
                  <a:srgbClr val="7F8C8D"/>
                </a:solidFill>
              </a:rPr>
              <a:t>[ drop in: 05_detections_by_hour.png ]</a:t>
            </a:r>
          </a:p>
        </p:txBody>
      </p:sp>
      <p:sp>
        <p:nvSpPr>
          <p:cNvPr id="4" name="TextBox 3"/>
          <p:cNvSpPr txBox="1"/>
          <p:nvPr/>
        </p:nvSpPr>
        <p:spPr>
          <a:xfrm>
            <a:off x="8412480" y="1554480"/>
            <a:ext cx="3657600" cy="4572000"/>
          </a:xfrm>
          <a:prstGeom prst="rect">
            <a:avLst/>
          </a:prstGeom>
          <a:noFill/>
        </p:spPr>
        <p:txBody>
          <a:bodyPr wrap="square">
            <a:spAutoFit/>
          </a:bodyPr>
          <a:lstStyle/>
          <a:p>
            <a:pPr algn="l">
              <a:spcAft>
                <a:spcPts val="800"/>
              </a:spcAft>
            </a:pPr>
            <a:r>
              <a:rPr sz="1300">
                <a:solidFill>
                  <a:srgbClr val="34495E"/>
                </a:solidFill>
              </a:rPr>
              <a:t>•  13 recordings,
June 9 2022,
morning → night</a:t>
            </a:r>
          </a:p>
          <a:p>
            <a:pPr algn="l">
              <a:spcAft>
                <a:spcPts val="800"/>
              </a:spcAft>
            </a:pPr>
            <a:r>
              <a:rPr sz="1300">
                <a:solidFill>
                  <a:srgbClr val="34495E"/>
                </a:solidFill>
              </a:rPr>
              <a:t>•  Default threshold 0.7 → 18 detections (over-strict)</a:t>
            </a:r>
          </a:p>
          <a:p>
            <a:pPr algn="l">
              <a:spcAft>
                <a:spcPts val="800"/>
              </a:spcAft>
            </a:pPr>
            <a:r>
              <a:rPr sz="1300">
                <a:solidFill>
                  <a:srgbClr val="34495E"/>
                </a:solidFill>
              </a:rPr>
              <a:t>•  Threshold sweep → 0.4 = knee of curve</a:t>
            </a:r>
          </a:p>
          <a:p>
            <a:pPr algn="l">
              <a:spcAft>
                <a:spcPts val="800"/>
              </a:spcAft>
            </a:pPr>
            <a:r>
              <a:rPr sz="1300">
                <a:solidFill>
                  <a:srgbClr val="34495E"/>
                </a:solidFill>
              </a:rPr>
              <a:t>•  Final: 44 detections,
balanced across species</a:t>
            </a:r>
          </a:p>
          <a:p>
            <a:pPr algn="l">
              <a:spcAft>
                <a:spcPts val="800"/>
              </a:spcAft>
            </a:pPr>
            <a:r>
              <a:rPr sz="1300">
                <a:solidFill>
                  <a:srgbClr val="34495E"/>
                </a:solidFill>
              </a:rPr>
              <a:t>•  Diurnal activity patterns recovered from filename timestamps</a:t>
            </a:r>
          </a:p>
        </p:txBody>
      </p:sp>
      <p:sp>
        <p:nvSpPr>
          <p:cNvPr id="5" name="TextBox 4"/>
          <p:cNvSpPr txBox="1"/>
          <p:nvPr/>
        </p:nvSpPr>
        <p:spPr>
          <a:xfrm>
            <a:off x="548640" y="6446520"/>
            <a:ext cx="10972800" cy="365760"/>
          </a:xfrm>
          <a:prstGeom prst="rect">
            <a:avLst/>
          </a:prstGeom>
          <a:noFill/>
        </p:spPr>
        <p:txBody>
          <a:bodyPr wrap="square" anchor="t">
            <a:spAutoFit/>
          </a:bodyPr>
          <a:lstStyle/>
          <a:p>
            <a:pPr algn="ctr"/>
            <a:r>
              <a:rPr sz="1200" b="0">
                <a:solidFill>
                  <a:srgbClr val="7F8C8D"/>
                </a:solidFill>
              </a:rPr>
              <a:t>(Play one of the extracted clips from outputs/detected_clips/ if the room has audio.)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822960"/>
          </a:xfrm>
          <a:prstGeom prst="rect">
            <a:avLst/>
          </a:prstGeom>
          <a:noFill/>
        </p:spPr>
        <p:txBody>
          <a:bodyPr wrap="square" anchor="t">
            <a:spAutoFit/>
          </a:bodyPr>
          <a:lstStyle/>
          <a:p>
            <a:pPr algn="l"/>
            <a:r>
              <a:rPr sz="3200" b="1">
                <a:solidFill>
                  <a:srgbClr val="2C3E50"/>
                </a:solidFill>
              </a:rPr>
              <a:t>Takeaways</a:t>
            </a:r>
          </a:p>
        </p:txBody>
      </p:sp>
      <p:sp>
        <p:nvSpPr>
          <p:cNvPr id="3" name="TextBox 2"/>
          <p:cNvSpPr txBox="1"/>
          <p:nvPr/>
        </p:nvSpPr>
        <p:spPr>
          <a:xfrm>
            <a:off x="822960" y="1645920"/>
            <a:ext cx="10515600" cy="3931920"/>
          </a:xfrm>
          <a:prstGeom prst="rect">
            <a:avLst/>
          </a:prstGeom>
          <a:noFill/>
        </p:spPr>
        <p:txBody>
          <a:bodyPr wrap="square">
            <a:spAutoFit/>
          </a:bodyPr>
          <a:lstStyle/>
          <a:p>
            <a:pPr algn="l">
              <a:spcAft>
                <a:spcPts val="800"/>
              </a:spcAft>
            </a:pPr>
            <a:r>
              <a:rPr sz="2200">
                <a:solidFill>
                  <a:srgbClr val="34495E"/>
                </a:solidFill>
              </a:rPr>
              <a:t>•  VGG19 transfer learning works for primate vocal classification — 94.3% validation accuracy.</a:t>
            </a:r>
          </a:p>
          <a:p>
            <a:pPr algn="l">
              <a:spcAft>
                <a:spcPts val="800"/>
              </a:spcAft>
            </a:pPr>
            <a:r>
              <a:rPr sz="2200">
                <a:solidFill>
                  <a:srgbClr val="34495E"/>
                </a:solidFill>
              </a:rPr>
              <a:t>•  Deployed end-to-end on real 2022 Makokou recordings, recovers meaningful diurnal vocal activity patterns.</a:t>
            </a:r>
          </a:p>
          <a:p>
            <a:pPr algn="l">
              <a:spcAft>
                <a:spcPts val="800"/>
              </a:spcAft>
            </a:pPr>
            <a:r>
              <a:rPr sz="2200">
                <a:solidFill>
                  <a:srgbClr val="34495E"/>
                </a:solidFill>
              </a:rPr>
              <a:t>•  Released as a reusable Python package — any researcher with their own primate recordings can run it by editing one config file.</a:t>
            </a:r>
          </a:p>
        </p:txBody>
      </p:sp>
      <p:sp>
        <p:nvSpPr>
          <p:cNvPr id="4" name="TextBox 3"/>
          <p:cNvSpPr txBox="1"/>
          <p:nvPr/>
        </p:nvSpPr>
        <p:spPr>
          <a:xfrm>
            <a:off x="822960" y="5394960"/>
            <a:ext cx="10515600" cy="640080"/>
          </a:xfrm>
          <a:prstGeom prst="rect">
            <a:avLst/>
          </a:prstGeom>
          <a:noFill/>
        </p:spPr>
        <p:txBody>
          <a:bodyPr wrap="square" anchor="t">
            <a:spAutoFit/>
          </a:bodyPr>
          <a:lstStyle/>
          <a:p>
            <a:pPr algn="l"/>
            <a:r>
              <a:rPr sz="1600" b="0">
                <a:solidFill>
                  <a:srgbClr val="7F8C8D"/>
                </a:solidFill>
              </a:rPr>
              <a:t>Open challenge: Pan troglodytes recall. Next steps: more field data · per-call-type classification · temporal context.</a:t>
            </a:r>
          </a:p>
        </p:txBody>
      </p:sp>
      <p:sp>
        <p:nvSpPr>
          <p:cNvPr id="5" name="TextBox 4"/>
          <p:cNvSpPr txBox="1"/>
          <p:nvPr/>
        </p:nvSpPr>
        <p:spPr>
          <a:xfrm>
            <a:off x="822960" y="6217920"/>
            <a:ext cx="10515600" cy="548640"/>
          </a:xfrm>
          <a:prstGeom prst="rect">
            <a:avLst/>
          </a:prstGeom>
          <a:noFill/>
        </p:spPr>
        <p:txBody>
          <a:bodyPr wrap="square" anchor="t">
            <a:spAutoFit/>
          </a:bodyPr>
          <a:lstStyle/>
          <a:p>
            <a:pPr algn="l"/>
            <a:r>
              <a:rPr sz="2000" b="1">
                <a:solidFill>
                  <a:srgbClr val="2980B9"/>
                </a:solidFill>
              </a:rPr>
              <a:t>Thank you — questions welcome.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Box 1"/>
          <p:cNvSpPr txBox="1"/>
          <p:nvPr/>
        </p:nvSpPr>
        <p:spPr>
          <a:xfrm>
            <a:off x="548640" y="320040"/>
            <a:ext cx="10972800" cy="822960"/>
          </a:xfrm>
          <a:prstGeom prst="rect">
            <a:avLst/>
          </a:prstGeom>
          <a:noFill/>
        </p:spPr>
        <p:txBody>
          <a:bodyPr wrap="square" anchor="t">
            <a:spAutoFit/>
          </a:bodyPr>
          <a:lstStyle/>
          <a:p>
            <a:pPr algn="l"/>
            <a:r>
              <a:rPr sz="3200" b="1">
                <a:solidFill>
                  <a:srgbClr val="7F8C8D"/>
                </a:solidFill>
              </a:rPr>
              <a:t>Backup — package structure</a:t>
            </a:r>
          </a:p>
        </p:txBody>
      </p:sp>
      <p:pic>
        <p:nvPicPr>
          <p:cNvPr id="3" name="Picture 2" descr="package_structure.png"/>
          <p:cNvPicPr>
            <a:picLocks noChangeAspect="1"/>
          </p:cNvPicPr>
          <p:nvPr/>
        </p:nvPicPr>
        <p:blipFill>
          <a:blip r:embed="rId2"/>
          <a:stretch>
            <a:fillRect/>
          </a:stretch>
        </p:blipFill>
        <p:spPr>
          <a:xfrm>
            <a:off x="1549703" y="1280160"/>
            <a:ext cx="9062114" cy="5120640"/>
          </a:xfrm>
          <a:prstGeom prst="rect">
            <a:avLst/>
          </a:prstGeom>
        </p:spPr>
      </p:pic>
      <p:sp>
        <p:nvSpPr>
          <p:cNvPr id="4" name="TextBox 3"/>
          <p:cNvSpPr txBox="1"/>
          <p:nvPr/>
        </p:nvSpPr>
        <p:spPr>
          <a:xfrm>
            <a:off x="548640" y="6446520"/>
            <a:ext cx="10972800" cy="365760"/>
          </a:xfrm>
          <a:prstGeom prst="rect">
            <a:avLst/>
          </a:prstGeom>
          <a:noFill/>
        </p:spPr>
        <p:txBody>
          <a:bodyPr wrap="square" anchor="ctr">
            <a:spAutoFit/>
          </a:bodyPr>
          <a:lstStyle/>
          <a:p>
            <a:pPr algn="ctr"/>
            <a:r>
              <a:rPr sz="1200" b="0">
                <a:solidFill>
                  <a:srgbClr val="7F8C8D"/>
                </a:solidFill>
              </a:rPr>
              <a:t>Hidden from normal flow. Pull up only if a question asks about code / reproducibility.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